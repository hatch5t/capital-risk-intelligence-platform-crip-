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80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51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94360" y="2468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Risk Intelligence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 for Insurance Risk 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6858000" cy="2651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3931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·  No. 47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4343400"/>
            <a:ext cx="109728" cy="109728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43159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Aarush Rajan Ranjan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4782312"/>
            <a:ext cx="109728" cy="109728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Deekshika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5221224"/>
            <a:ext cx="109728" cy="109728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519379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Saumya Bajaj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" y="5660136"/>
            <a:ext cx="109728" cy="109728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563270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Varad Shrivastava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3200400"/>
            <a:ext cx="192024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863840" y="3337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863840" y="4206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75520" y="3200400"/>
            <a:ext cx="192024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966960" y="3337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966960" y="4206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4937760"/>
            <a:ext cx="192024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63840" y="50749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863840" y="5943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75520" y="4937760"/>
            <a:ext cx="192024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966960" y="50749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966960" y="5943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Project Committee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937760" cy="10058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 manage thousands of policies with complex, interrelated risks — yet most analysis pipelines are siloed and manual.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937760" cy="10058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Underwriters lack a unified view combining pricing, credit, market, operational, and catastrophe risks in real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4937760" cy="10058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adequacy calculations (VaR, Expected Shortfall) are rarely automated or stress-tested against multiple economic scenarios.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4937760" cy="10058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5029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reports take weeks to produce; the language gap between technical models and CRO-level decision-making widens outcomes.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325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5760720" cy="10058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0760" y="1847088"/>
            <a:ext cx="457200" cy="4572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8076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1783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207568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agents form a sequential pipeline from raw Excel data to actionable PDF report — no manual handoffs.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788920"/>
            <a:ext cx="5760720" cy="10058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80760" y="2944368"/>
            <a:ext cx="457200" cy="4572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8076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2880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31729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Credit, Market, Operational &amp; CAT risks unified into a single composite risk score (0–10 scale).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886200"/>
            <a:ext cx="5760720" cy="10058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80760" y="4041648"/>
            <a:ext cx="457200" cy="4572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8076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39776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Intelligence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427024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at 99th percentile, Expected Shortfall, and Solvency Ratio computed per portfolio.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4983480"/>
            <a:ext cx="5760720" cy="10058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760" y="5138928"/>
            <a:ext cx="457200" cy="4572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76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5074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 Chat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53675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chatbot answers natural-language risk queries using the live generated report as context.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 System Architecture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828800" cy="6858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Unclean.xlsx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2,977 rows · 46 cols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2011680" cy="7772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9748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2011680" cy="777240"/>
          </a:xfrm>
          <a:prstGeom prst="rect">
            <a:avLst/>
          </a:prstGeom>
          <a:solidFill>
            <a:srgbClr val="5C8A3C"/>
          </a:solidFill>
          <a:ln w="12700">
            <a:solidFill>
              <a:srgbClr val="5C8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69480" y="1188720"/>
            <a:ext cx="2011680" cy="777240"/>
          </a:xfrm>
          <a:prstGeom prst="rect">
            <a:avLst/>
          </a:prstGeom>
          <a:solidFill>
            <a:srgbClr val="8A5C3C"/>
          </a:solidFill>
          <a:ln w="12700">
            <a:solidFill>
              <a:srgbClr val="8A5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6092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6092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0" y="1188720"/>
            <a:ext cx="2011680" cy="777240"/>
          </a:xfrm>
          <a:prstGeom prst="rect">
            <a:avLst/>
          </a:prstGeom>
          <a:solidFill>
            <a:srgbClr val="3C5C8A"/>
          </a:solidFill>
          <a:ln w="12700">
            <a:solidFill>
              <a:srgbClr val="3C5C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9264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9264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18520" y="1965959"/>
            <a:ext cx="365760" cy="1779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834640" y="2354580"/>
            <a:ext cx="2011680" cy="777240"/>
          </a:xfrm>
          <a:prstGeom prst="rect">
            <a:avLst/>
          </a:prstGeom>
          <a:solidFill>
            <a:srgbClr val="6B3CA0"/>
          </a:solidFill>
          <a:ln w="12700">
            <a:solidFill>
              <a:srgbClr val="6B3C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26080" y="24003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0" y="25557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87165" y="2512255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60720" y="2359386"/>
            <a:ext cx="2011680" cy="77724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52160" y="240510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52160" y="256055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86800" y="2366537"/>
            <a:ext cx="2011680" cy="777240"/>
          </a:xfrm>
          <a:prstGeom prst="rect">
            <a:avLst/>
          </a:prstGeom>
          <a:solidFill>
            <a:srgbClr val="8A3C5C"/>
          </a:solidFill>
          <a:ln w="12700">
            <a:solidFill>
              <a:srgbClr val="8A3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0" y="2412257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78240" y="2567705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52822" y="255856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5760" y="2377440"/>
            <a:ext cx="1783080" cy="777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5760" y="24231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720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Uncleaned Excel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604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9748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9748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· Scored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Metrics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ER · CR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6948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6092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6092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 + VaR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60120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969264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9264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Prophet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114800"/>
            <a:ext cx="11430000" cy="64008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48640" y="42245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Streamlit Web App  ·  Language: Python 3.x  ·  LLM: Gemini 2.5 Flash  ·  ML: XGBoost + Prophet  ·  Stats: Monte Carlo Simulation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4892040"/>
            <a:ext cx="5715000" cy="420624"/>
          </a:xfrm>
          <a:prstGeom prst="rect">
            <a:avLst/>
          </a:prstGeom>
          <a:solidFill>
            <a:srgbClr val="E4EDF3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75488" y="49286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Data Governance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14600" y="492861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anomaly detection, fraud scoring, missing value imputation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72200" y="4892040"/>
            <a:ext cx="5650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281928" y="49286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Pricing &amp; Profitability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75320" y="4928616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Loss/Expense/Combined Ratio, Underwriting Profit by product line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5367528"/>
            <a:ext cx="5715000" cy="420624"/>
          </a:xfrm>
          <a:prstGeom prst="rect">
            <a:avLst/>
          </a:prstGeom>
          <a:solidFill>
            <a:srgbClr val="E4EDF3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75488" y="54041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— Risk Intelligence &amp; ML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514600" y="540410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risk scoring, XGBoost regressor/classifier, Monte Carlo VaR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72200" y="5367528"/>
            <a:ext cx="5650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281928" y="54041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— Forecasting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275320" y="5404104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time-series decomposition, 12-month claim &amp; premium forecast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5843016"/>
            <a:ext cx="5715000" cy="420624"/>
          </a:xfrm>
          <a:prstGeom prst="rect">
            <a:avLst/>
          </a:prstGeom>
          <a:solidFill>
            <a:srgbClr val="E4EDF3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75488" y="5879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— Stress Testing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514600" y="587959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economic scenarios, stressed metrics, capital consumption analysis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172200" y="5843016"/>
            <a:ext cx="5650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281928" y="5879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— Actuarial Report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275320" y="5879592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(0–100), portfolio rating, findings register, PDF output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65760" y="6318504"/>
            <a:ext cx="5715000" cy="420624"/>
          </a:xfrm>
          <a:prstGeom prst="rect">
            <a:avLst/>
          </a:prstGeom>
          <a:solidFill>
            <a:srgbClr val="E4EDF3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75488" y="6355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— CRO AI Chatbot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2514600" y="63550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Flash, guardrail prompting, context-injected Q&amp;A (no RAG)</a:t>
            </a:r>
            <a:endParaRPr lang="en-US" sz="1000" dirty="0"/>
          </a:p>
        </p:txBody>
      </p:sp>
      <p:sp>
        <p:nvSpPr>
          <p:cNvPr id="76" name="Text 33">
            <a:extLst>
              <a:ext uri="{FF2B5EF4-FFF2-40B4-BE49-F238E27FC236}">
                <a16:creationId xmlns:a16="http://schemas.microsoft.com/office/drawing/2014/main" id="{FA0AEB8C-2D61-C3A7-423C-CC63C29B9D9E}"/>
              </a:ext>
            </a:extLst>
          </p:cNvPr>
          <p:cNvSpPr/>
          <p:nvPr/>
        </p:nvSpPr>
        <p:spPr>
          <a:xfrm>
            <a:off x="5035062" y="25328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— Unclean.xlsx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64992" y="11887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56432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56432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72784" y="11887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4224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64224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80576" y="11887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272016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72016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Dimensions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74904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749040" cy="3474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Premium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7432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Policy_ID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0175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Written_Premium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2918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Earned_Premium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5661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Premium_Outstanding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Product_Line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0832" y="2331720"/>
            <a:ext cx="374904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370832" y="2331720"/>
            <a:ext cx="3749040" cy="347472"/>
          </a:xfrm>
          <a:prstGeom prst="rect">
            <a:avLst/>
          </a:prstGeom>
          <a:solidFill>
            <a:srgbClr val="5C8A3C"/>
          </a:solidFill>
          <a:ln w="12700">
            <a:solidFill>
              <a:srgbClr val="5C8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07992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07992" y="27432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Claim_Amount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7992" y="30175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Claim_Frequency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07992" y="32918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Claim_Severity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07992" y="35661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Expected_Claim_Amount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07992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High_Risk_Flag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84464" y="2331720"/>
            <a:ext cx="374904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284464" y="2331720"/>
            <a:ext cx="3749040" cy="347472"/>
          </a:xfrm>
          <a:prstGeom prst="rect">
            <a:avLst/>
          </a:prstGeom>
          <a:solidFill>
            <a:srgbClr val="8A5C3C"/>
          </a:solidFill>
          <a:ln w="12700">
            <a:solidFill>
              <a:srgbClr val="8A5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421624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21624" y="27432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Total_Expense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21624" y="30175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Days_Past_Due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21624" y="32918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Interest_Rate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21624" y="35661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Market_Volatility_Index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21624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Inflation_Rate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43400"/>
            <a:ext cx="539496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57200" y="4343400"/>
            <a:ext cx="5394960" cy="347472"/>
          </a:xfrm>
          <a:prstGeom prst="rect">
            <a:avLst/>
          </a:prstGeom>
          <a:solidFill>
            <a:srgbClr val="3C5C8A"/>
          </a:solidFill>
          <a:ln w="12700">
            <a:solidFill>
              <a:srgbClr val="3C5C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94360" y="43799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Quality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475488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Fraud_Score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502920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Exception_Count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" y="53035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Processing_Delay_Days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557784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Data_Quality_Score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" y="58521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Regulatory_Flag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09360" y="4343400"/>
            <a:ext cx="539496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09360" y="4343400"/>
            <a:ext cx="5394960" cy="347472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46520" y="43799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/ CAT Risk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46520" y="475488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State / Region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46520" y="502920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Flood_Zone_Score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46520" y="53035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Cyclone_Zone_Score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46520" y="557784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Earthquake_Zone_Score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46520" y="58521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Coastal_Flag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6446520"/>
            <a:ext cx="11292840" cy="32004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40080" y="64922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addressed by Agent 1: missing values imputed · duplicates removed · IsolationForest anomaly detection · fraud scoring pipeline applied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01  ·  DATA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166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get_data_summary() — shape, dtypes, missing counts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check_missing_values() — per-column missing rates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check_duplicates() — exact row-level detection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clean_data() — imputation + type normalization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IsolationForest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5166360" cy="12344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3364992"/>
            <a:ext cx="494690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IsolationForest(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contamination=0.05,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 = model.fit_predict(num_cols)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-1 = anomaly, +1 = normal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Scoring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64608"/>
            <a:ext cx="5166360" cy="12344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4919472"/>
            <a:ext cx="494690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df_scored = calculate_fraud_score(df_clean)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Weighted flag combination: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Fraud_Score = f(exception_count,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claim_severity, processing_delay,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regulatory_flag, data_quality)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Validated DataFrame passed to all downstream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Flagged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Findings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0965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82512" y="41330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6 columns had nulls — 1,035 cells imputed via median/mode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55371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82512" y="45902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Anomalies: 69 records pre-flagged in data; 149 detected by IsolationForest (5%)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50109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82512" y="50474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Flags: Fraud Score &gt; 7 triggered in 238 records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546811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82512" y="55046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avg Data_Quality_Score raised from 64 → 91 post-clean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59253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82512" y="59618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0 exact duplicate rows found in raw dataset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02  ·  PRICING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Profitability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Actuarial Ratios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18872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1865376"/>
            <a:ext cx="494690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premium_safe = Written_Premium.replace(0, ε)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Loss_Ratio     = Claim_Amount / premium_safe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Expense_Ratio  = Total_Expense / premium_safe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Combined_Ratio = Loss_Ratio + Expense_Ratio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Profitability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5166360" cy="86868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" y="3364992"/>
            <a:ext cx="494690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Underwriting_Profit =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Written_Premium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Claim_Amount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Total_Expense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Segmentation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98848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 &gt; 1.0 → product is unprofitable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 &lt; 1.0 → underwriting profit exists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 types analyzed (incl. UNKNOWN_PRODUCT)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loading ratio benchmarked per segment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 interprets overall portfolio profitability in one metric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Loss Ratio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+₹1.64Cr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Profit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Insights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0965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82512" y="41330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 0.79 → portfolio is collectively PROFITABLE (CR &lt; 1.0)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55371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82512" y="45902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highest LR (66.5%), UNKNOWN_PRODUCT (63.2%) — both approaching breakeven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50109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82512" y="50474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lowest LR (43.5%), Fire (47.8%), Marine (45.9%) — most efficient segments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546811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82512" y="55046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Premiums ₹7.93 Cr vs Claims ₹4.29 Cr — underwriting profit ₹1.64 Cr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59253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82512" y="59618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1,241 of 2,977 policies (~42%) are individually Loss-Making despite aggregate profit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03  ·  RISK + CAPITAL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Intelligence, ML Models &amp; Capital Adequacy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Risk Scoring (0–10 scale)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48132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1865376"/>
            <a:ext cx="4946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Insurance = (w·LR + w·Freq + w·Severity) × 10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    = (w·Premium_OS + w·Days_Past_Due) × 10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    = (w·Interest + w·Volatility + w·Inflation) × 10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Operational= (w·Fraud + w·Exception + w·Delay) × 10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       = (w·State + w·Flood + w·Cyclone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+ w·Earthquake + Coastal×10) × w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normalize() = (x - min) / (max - min)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649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Expected_Claim_Amount_ML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High_Risk_Prob (binary)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AUC-ROC, Brier Score, KS Stat, PSI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40740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Capital Adequacy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5166360" cy="12344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4709160"/>
            <a:ext cx="494690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losses ~ Normal(μ·N, σ·√N)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1,000 simulations, N = portfolio size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VaR_99  = percentile(losses, 99)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     = mean(losses &gt; VaR_99)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 = Written_Premium.sum() × CAPITAL_MULT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Solvency= (Capital / VaR_99) × 100  [%]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/ 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</a:rPr>
              <a:t>~0.7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₹4.47 Cr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266.5%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Ratio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Dimension Scores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4114800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82512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1268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/ 10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4599432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82512" y="4672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12680" y="46725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/ 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5084064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82512" y="5157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12680" y="51572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/ 10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5568696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82512" y="5641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12680" y="5641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/ 10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6053328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82512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Catastrophe (CAT) Risk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012680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/ 10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6537960"/>
            <a:ext cx="5394960" cy="256032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55080" y="656539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Score: 0.013  ·  KS Stat: 0.325  ·  PSI: 0.0504 (stable)  ·  Pass – Compliant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04  ·  FORECASTING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Forecasting — Prophet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Prophet Decomposition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2344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1865376"/>
            <a:ext cx="494690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y(t) = trend(t) + seasonality(t)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holidays(t) + ε(t)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Piecewise linear / logistic trend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Fourier series for seasonality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Additive / multiplicative modes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Targets (12-Month Horizon)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5166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Claim_Amount forecast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Written_Premium forecast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Frequency &amp; Severity trends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 calculations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 decomposition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4515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516636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4946904"/>
            <a:ext cx="4946904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df_monthly = df.groupby('Month').agg(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Claim_Amount='sum',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Written_Premium='sum',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Claim_Frequency='count'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Prophet(seasonality_mode='additive')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model.fit(df_monthly[['ds','y']])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 = model.predict(future_12m)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₹12.23L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 Claims Fc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₹25.57L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 Premium Fc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-6.2%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YoY (Declining)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-10.4%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YoY (Declining)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Insights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4114800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82512" y="4160520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premiums (-10.4%) and claims (-6.2%) declining YoY — portfolio contracting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4599432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82512" y="464515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falling faster than claims — Loss Ratio gradually worsening trend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5084064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82512" y="5129784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highest per-product LR (66.5%); Travel lowest (43.5%); UNKNOWN 63.2%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5568696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82512" y="5614416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premium ₹21.97L vs avg monthly claims ₹11.88L — 54.1% LR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6053328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82512" y="609904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detects strong seasonal pattern — claim spikes in mid-year months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05  ·  STRESS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Scenario-Based Stress Testing &amp; Capital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 Metric Computation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1865376"/>
            <a:ext cx="494690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stressed_lr = original_lr × shock_mult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stressed_cr = stressed_lr + expense_ratio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solvency    = (Capital / stressed_VaR) × 100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cap_consumed= stressed_VaR - available_capital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  = max(0, Capital - stressed_VaR)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Stress Scenarios (S1–S5)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+20%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3337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Moderate shock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8496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8496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+40%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38496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Severe shock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43616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+25%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43616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Mkt vol shock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48737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873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Shock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487375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+ Mkt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94360" y="53858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53858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Event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53858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Extreme tail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897880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CR 79.3% → S5 stressed CR 111.8% (loss-making under catastrophe)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highest exposure (₹15.5M); all 6 products rated Low vulnerability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capital-adequate in ALL 5 scenarios — zero shortfall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Scenario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Stressed Solvency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₹18.3 Cr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Capital Consumed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Shortfall — All 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Results Summary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63640" y="4114800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82512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Claims +20% (CR 90.1%)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01200" y="4187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332720" y="41879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4599432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382512" y="4672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Claims +40% (CR 100.9%)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601200" y="46725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332720" y="46725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5084064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382512" y="5157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Market Risk +25% (CR 79.3%)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601200" y="51572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332720" y="51572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Solvent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5568696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382512" y="5641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Combined Shock (CR 100.9%)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601200" y="5641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332720" y="5641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Solvent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63640" y="6053328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382512" y="6126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— Catastrophic Event (CR 111.8%)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601200" y="6126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32.9%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332720" y="61264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Low Buffer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  ·  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Actuarial Valuation Report — PDF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29844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1865376"/>
            <a:ext cx="49469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health_score = calculate_health_score(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gov_results,    # data quality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pricing_results,# profitability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risk_results,   # risk + capital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forecast_results,# trend outlook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stress_results  # resilience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Returns 0–100 integer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Rating &amp; Outlook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166360" cy="129844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" y="3483864"/>
            <a:ext cx="49469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 = assign_portfolio_rating(score)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EXCELLENT ≥ 80 · GOOD ≥ 65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MODERATE  ≥ 50 · POOR &lt; 50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 = assign_portfolio_outlook(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score, is_solvent, solvency_ratio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POSITIVE / STABLE / NEGATIVE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81888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Sections Generated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166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· Actuarial Opinion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Assessment · Capital Validation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Risk Dashboard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Register · Management Actions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Assessment · Final Conclusion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5394960" cy="118872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63640" y="157276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886968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0" y="17556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834640"/>
            <a:ext cx="2560320" cy="7315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6364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3621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0" y="2834640"/>
            <a:ext cx="256032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96112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61120" y="3621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Outlook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02336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55080" y="40690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Findings  ·  6 Management Actions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4434840"/>
            <a:ext cx="5394960" cy="374904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82512" y="4480560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F001 [MED] — 149 anomalies (5.0% of records) flagged; strengthen data capture at source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864608"/>
            <a:ext cx="53949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82512" y="4910328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F002 [MED] — UNKNOWN_PRODUCT carries highest LR (67.9%); actuarial repricing review required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5294376"/>
            <a:ext cx="5394960" cy="374904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82512" y="5340096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F003 [MED] — Market risk dominant at 5.79/10; strengthen monitoring, consider hedging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5724144"/>
            <a:ext cx="53949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82512" y="5769864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F004 [LOW] — Predictive model AUC 0.9990 passes governance; schedule annual revalidation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6153912"/>
            <a:ext cx="5394960" cy="374904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82512" y="6199632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F005 [HIGH] — Portfolio solvent under stress (S1: 53.5%); continue quarterly stress testing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6565392"/>
            <a:ext cx="5394960" cy="237744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55080" y="659282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CRIP_Actuarial_Report_YYYYMMDD_HHMMSS.pdf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07  ·  AI INTERFACE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 AI Chatbot — Chief Risk Officer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Gemini 2.5 Flash + Context Injection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166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pipeline — report metrics injected directly as context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all CRIP report data (health score, VaR, findings, etc.)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google/gemini-2.5-flash via google.generativeai SDK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51663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3008376"/>
            <a:ext cx="494690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= "Chief Risk Officer (CRO) AI for CRIP"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context_str = "\n".join([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  • {k}: {v}"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k,v in context.items()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full_prompt = role + context_str + user_q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18795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(4 Rules)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Answer ONLY from injected context data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Missing metric → 'not available in current report'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Off-topic → politely decline, redirect to risk context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Quote specific numbers, reference finding IDs (F001...)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5166360" cy="6858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5632704"/>
            <a:ext cx="494690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genai.GenerativeModel('gemini-2.5-flash')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model.generate_content(full_prompt)</a:t>
            </a:r>
            <a:endParaRPr lang="en-US" sz="10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response.text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572768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55080" y="16184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Capabilities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993392"/>
            <a:ext cx="5029200" cy="38404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82512" y="20482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our current Solvency Ratio?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2468880"/>
            <a:ext cx="5029200" cy="786384"/>
          </a:xfrm>
          <a:prstGeom prst="rect">
            <a:avLst/>
          </a:prstGeom>
          <a:solidFill>
            <a:srgbClr val="18262E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48272" y="2523744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Your portfolio's Solvency Ratio is 266.5% under normal conditions — well above the 150% IRDAI threshold. VaR at 99% is ₹4.47 Cr with Expected Shortfall ₹4.49 Cr.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346704"/>
            <a:ext cx="5029200" cy="38404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82512" y="3401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Which product line is most unprofitable?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822192"/>
            <a:ext cx="5029200" cy="786384"/>
          </a:xfrm>
          <a:prstGeom prst="rect">
            <a:avLst/>
          </a:prstGeom>
          <a:solidFill>
            <a:srgbClr val="18262E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48272" y="3877056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Portfolio CR is 79.29% — collectively profitable. F002 flags UNKNOWN_PRODUCT (LR 67.9%) and Health (LR 66.5%) as highest-risk segments requiring repricing review.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700016"/>
            <a:ext cx="5029200" cy="38404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82512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movies are showing this week?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5175504"/>
            <a:ext cx="5029200" cy="585216"/>
          </a:xfrm>
          <a:prstGeom prst="rect">
            <a:avLst/>
          </a:prstGeom>
          <a:solidFill>
            <a:srgbClr val="18262E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48272" y="52303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 am the CRIP Risk Assistant. I can only answer questions about the currently loaded risk report.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5897880"/>
            <a:ext cx="5394960" cy="27432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55080" y="593445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sidebar widget  ·  Real-time Q&amp;A  ·  Gemini API key via .env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11880" cy="438912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9535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23444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43400" y="1234440"/>
            <a:ext cx="3611880" cy="438912"/>
          </a:xfrm>
          <a:prstGeom prst="rect">
            <a:avLst/>
          </a:prstGeom>
          <a:solidFill>
            <a:srgbClr val="3C5C8A"/>
          </a:solidFill>
          <a:ln w="12700">
            <a:solidFill>
              <a:srgbClr val="3C5C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80560" y="129844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181051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189280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234086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24231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(Meta)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287121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63440" y="29535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123444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29600" y="1234440"/>
            <a:ext cx="3611880" cy="438912"/>
          </a:xfrm>
          <a:prstGeom prst="rect">
            <a:avLst/>
          </a:prstGeom>
          <a:solidFill>
            <a:srgbClr val="5C8A3C"/>
          </a:solidFill>
          <a:ln w="12700">
            <a:solidFill>
              <a:srgbClr val="5C8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366760" y="129844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181051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549640" y="189280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234086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49640" y="24231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0" y="287121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549640" y="29535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/ Statsmodels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3611880" cy="438912"/>
          </a:xfrm>
          <a:prstGeom prst="rect">
            <a:avLst/>
          </a:prstGeom>
          <a:solidFill>
            <a:srgbClr val="6B3CA0"/>
          </a:solidFill>
          <a:ln w="12700">
            <a:solidFill>
              <a:srgbClr val="6B3C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94360" y="37216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23367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77240" y="43159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476402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77240" y="4846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google.generativeai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529437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77240" y="53766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43400" y="365760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343400" y="3657600"/>
            <a:ext cx="3611880" cy="438912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480560" y="37216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26280" y="423367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663440" y="43159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(PDF)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26280" y="476402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63440" y="4846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Plotly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26280" y="529437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663440" y="53766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Auto-export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229600" y="365760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229600" y="3657600"/>
            <a:ext cx="3611880" cy="43891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366760" y="37216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412480" y="423367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549640" y="43159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412480" y="476402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549640" y="4846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412480" y="529437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549640" y="53766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(.env)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7200" y="6309360"/>
            <a:ext cx="11292840" cy="43891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40080" y="6382512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run within a single Streamlit multi-page app  ·  Dataset: Unclean.xlsx  ·  No cloud dependency — fully local Python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CRIP vs After CRIP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4068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MANUAL 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58191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Insurance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5166360" cy="566928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207568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pull data from disparate Excel files — error-prone, time-consuming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5166360" cy="56692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2491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done ad hoc — no standardized formula across teams or regions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5166360" cy="566928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6928" y="3319272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4670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and capital adequacy require specialist actuaries — days or weeks per run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95344"/>
            <a:ext cx="5166360" cy="56692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3941064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6849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report drafted manually in Word — formatting errors, version conflicts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517136"/>
            <a:ext cx="5166360" cy="566928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4562856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59028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stress-testing automation — scenarios run one at a time, manually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138928"/>
            <a:ext cx="5166360" cy="56692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" y="518464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2120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decisions based on static weekly/monthly snapshots, not live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760720"/>
            <a:ext cx="5166360" cy="566928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" y="58064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583387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interface — insights buried in spreadsheets, inaccessible to non-analysts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35661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6400800" y="1188720"/>
            <a:ext cx="5394960" cy="534924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629400" y="13075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CRIP AUTOMATED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15819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7-Agent Intelligence Pipeline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2029968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56248" y="207568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210312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Excel upload → all 46 columns ingested, validated, and scored automatically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2651760"/>
            <a:ext cx="5166360" cy="56692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556248" y="26974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272491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weighted risk scoring (Insurance, Credit, Market, Operational, CAT) — formula-driven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3273552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56248" y="3319272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334670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1,000-simulation Monte Carlo VaR + ES + Solvency Ratio in seconds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3895344"/>
            <a:ext cx="5166360" cy="56692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556248" y="3941064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396849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PDF actuarial report auto-generated — 62/100 health score, findings register, management actions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4517136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556248" y="4562856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03720" y="459028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stress scenarios run in parallel — solvency status per scenario, capital buffer analysis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5138928"/>
            <a:ext cx="5166360" cy="56692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556248" y="518464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03720" y="52120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Prophet forecast generated per run — live YoY trend, seasonal decomposition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92240" y="5760720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1" name="Text 49"/>
          <p:cNvSpPr/>
          <p:nvPr/>
        </p:nvSpPr>
        <p:spPr>
          <a:xfrm>
            <a:off x="6556248" y="58064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03720" y="583387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 CRO chatbot — natural language risk Q&amp;A from live report data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Model Accuracy —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performance (0.999)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probability calibration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discriminatory power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3544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32688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stability (&lt; 0.2 = stable)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5394960" cy="39776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26334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 ·  XGBOOST IMPORTANCE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29077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Expected_Claim_Amount_ML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Insurance_Risk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3300984"/>
            <a:ext cx="1530706" cy="237744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376672" y="326440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6667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Sum_Insured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721608"/>
            <a:ext cx="740664" cy="237744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76672" y="3685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087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Premium_Outstanding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4142232"/>
            <a:ext cx="1234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76672" y="410565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5079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Operational_Risk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4562856"/>
            <a:ext cx="24689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376672" y="45262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9286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Market_Risk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34640" y="4983480"/>
            <a:ext cx="24689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376672" y="49469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5349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Credit_Risk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5404104"/>
            <a:ext cx="24689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76672" y="53675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5769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Policy_Tenure_Months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34640" y="5824728"/>
            <a:ext cx="24689" cy="237744"/>
          </a:xfrm>
          <a:prstGeom prst="rect">
            <a:avLst/>
          </a:prstGeom>
          <a:solidFill>
            <a:srgbClr val="8EA3B0"/>
          </a:solidFill>
          <a:ln w="12700">
            <a:solidFill>
              <a:srgbClr val="8EA3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376672" y="578815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2514600"/>
            <a:ext cx="5760720" cy="39776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263640" y="26334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RESULTS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29077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High_Risk_Prob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3246120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45352" y="33101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(High-risk correctly flagged)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332720" y="331012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26480" y="3721608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245352" y="37856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(Low-risk mislabeled)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32720" y="37856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26480" y="4197096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245352" y="4261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(Low-risk correctly cleared)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332720" y="426110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126480" y="4672584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45352" y="47365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(High-risk missed)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332720" y="47365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263640" y="5166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Expected_Claim_Amount_ML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26480" y="5504688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245352" y="55595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(variance explained)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332720" y="555955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126480" y="5934456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245352" y="5989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332720" y="59893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₹8,240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126480" y="6364224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245352" y="64190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(RMSE)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332720" y="64190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₹12,650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·  LIVE UI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 Streamlit Interface — Actual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1430000" cy="5468112"/>
          </a:xfrm>
          <a:prstGeom prst="rect">
            <a:avLst/>
          </a:prstGeom>
          <a:solidFill>
            <a:srgbClr val="E8EDF0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310896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27101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27101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15568" y="1207008"/>
            <a:ext cx="8686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70432" y="121615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localhost:8501  —  CRIP: Comprehensive Risk Intelligence Platform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515600" y="1188720"/>
            <a:ext cx="640080" cy="2560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15600" y="1188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2331720" cy="5157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15727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Settings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 (months)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084832"/>
            <a:ext cx="2011680" cy="54864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057400"/>
            <a:ext cx="841248" cy="10972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298448" y="2029968"/>
            <a:ext cx="164592" cy="16459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261872" y="1938528"/>
            <a:ext cx="23774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240280"/>
            <a:ext cx="2057400" cy="18288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24231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Settings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6974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scenario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907792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4360" y="294436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Combined Shock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2944368"/>
            <a:ext cx="137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246120"/>
            <a:ext cx="2057400" cy="18288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 Assistant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6758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anything about the generated risk reports.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041648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4078224"/>
            <a:ext cx="1874520" cy="2194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overall Capital Adequacy?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4389120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4360" y="4425696"/>
            <a:ext cx="1874520" cy="2194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is most profitable?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4736592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94360" y="4773168"/>
            <a:ext cx="1874520" cy="2194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all open findings.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5084064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94360" y="5120640"/>
            <a:ext cx="1874520" cy="2194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forecast for next month?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6291072"/>
            <a:ext cx="2057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94360" y="63276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solvency, risks,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31720" y="6309360"/>
            <a:ext cx="201168" cy="2011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331720" y="6309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97480" y="1481328"/>
            <a:ext cx="9144000" cy="5157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834640" y="1572768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CRIP: Comprehensive Risk Intelligence Platform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834640" y="201168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raw insurance dataset to automatically orchestrate all AI agents.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34640" y="23225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Raw Dataset (.csv or .xlsx)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34640" y="2542032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880360" y="2578608"/>
            <a:ext cx="292608" cy="2926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880360" y="2578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[csv]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218688" y="26151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Unclean.xlsx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18688" y="279806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0.8MB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34640" y="2999232"/>
            <a:ext cx="87782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944368" y="306324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'Unclean.xlsx' loaded — 2,977 rows and 46 columns.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834640" y="3429000"/>
            <a:ext cx="169164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834640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Agents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834640" y="3913632"/>
            <a:ext cx="8778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2834640" y="3913632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944368" y="39593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Governance complete — 2,977 clean rows.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34640" y="4334256"/>
            <a:ext cx="877824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834640" y="4334256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2944368" y="437997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Pricing Analysis complete!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834640" y="4754880"/>
            <a:ext cx="8778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834640" y="4754880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944368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 Intelligence &amp; ML complete!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834640" y="5175504"/>
            <a:ext cx="877824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834640" y="5175504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944368" y="52212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Forecasting complete — Next month claims: ₹1,223,414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834640" y="5596128"/>
            <a:ext cx="8778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834640" y="5596128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944368" y="56418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Stress Testing complete — S1 Solvency: 53.5% · S5 (worst): 32.9% — No shortfall.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834640" y="6016752"/>
            <a:ext cx="877824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834640" y="6016752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944368" y="60624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Actuarial Valuation Report Generated!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834640" y="6464808"/>
            <a:ext cx="192024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834640" y="64648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Actuarial Report Summary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of CRIP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743200" cy="141732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Runtime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days manually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98448"/>
            <a:ext cx="2743200" cy="1417320"/>
          </a:xfrm>
          <a:prstGeom prst="rect">
            <a:avLst/>
          </a:prstGeom>
          <a:solidFill>
            <a:srgbClr val="243340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7x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 one click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98448"/>
            <a:ext cx="2743200" cy="1417320"/>
          </a:xfrm>
          <a:prstGeom prst="rect">
            <a:avLst/>
          </a:prstGeom>
          <a:solidFill>
            <a:srgbClr val="24334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stress tests per run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1298448"/>
            <a:ext cx="2743200" cy="1417320"/>
          </a:xfrm>
          <a:prstGeom prst="rect">
            <a:avLst/>
          </a:prstGeom>
          <a:solidFill>
            <a:srgbClr val="2433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32688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26880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Formula-driven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52928"/>
            <a:ext cx="11430000" cy="36576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2907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CRIP (Manual)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29077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CRIP (Automated)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1430000" cy="420624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33284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generate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business days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3328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 per run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30752"/>
            <a:ext cx="11430000" cy="420624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37856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dimensions covered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94760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(loss ratio only)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35240" y="37856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(Insurance, Credit, Market, Operational, CAT)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87952"/>
            <a:ext cx="11430000" cy="420624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2920" y="42428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adequacy method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94760" y="42428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Rule-of-thumb estimates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4242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(1,000 sims) + 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11430000" cy="420624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2920" y="47000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scenarios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94760" y="47000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scenario, manually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35240" y="47000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scenarios, automated, parallel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5102352"/>
            <a:ext cx="11430000" cy="420624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" y="51572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access to insights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94760" y="51572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analyst summaries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35240" y="51572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AI chatbot — live Q&amp;A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5559552"/>
            <a:ext cx="11430000" cy="420624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" y="56144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94760" y="5614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hoc, varies by analyst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35240" y="5614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reproducible from same input file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6016752"/>
            <a:ext cx="11430000" cy="420624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2920" y="60716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94760" y="6071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Word document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35240" y="60716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 with findings register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GENERALISABILITY  ·  REAL-WORLD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 Works Across Any Insurance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3 structurally different datasets — each auto-processed without code changes.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566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566160" cy="43891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07568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rows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295144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portfolio · 10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" y="260604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936" y="264261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₹76,832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" y="299008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Written Premium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" y="342900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0936" y="346557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₹3,82,738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" y="381304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Claim Amount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" y="425196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936" y="428853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48.6 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" y="463600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Policy Tenure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" y="5166360"/>
            <a:ext cx="3236976" cy="1005840"/>
          </a:xfrm>
          <a:prstGeom prst="rect">
            <a:avLst/>
          </a:prstGeom>
          <a:solidFill>
            <a:srgbClr val="FDECEC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0936" y="5239512"/>
            <a:ext cx="312724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Date corruption auto-detected: 88.6% rows (2,657 records) had Excel serial dates — CRIP flagged &amp; isolated.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1508760"/>
            <a:ext cx="3566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297680" y="1508760"/>
            <a:ext cx="356616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434840" y="1527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34840" y="17099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62272" y="207568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rows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2272" y="2295144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product lines · 7 types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260604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17136" y="264261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₹40,597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17136" y="299008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Written Premium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62272" y="342900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17136" y="346557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₹1,22,720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17136" y="381304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Claim Amount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62272" y="425196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17136" y="428853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61.8 mo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17136" y="463600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Policy Tenure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62272" y="5166360"/>
            <a:ext cx="3236976" cy="1005840"/>
          </a:xfrm>
          <a:prstGeom prst="rect">
            <a:avLst/>
          </a:prstGeom>
          <a:solidFill>
            <a:srgbClr val="FDECEC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17136" y="5239512"/>
            <a:ext cx="312724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117 negative premiums + 65 negative claims (-₹38.06L to +₹2.79Cr) auto-flagged as outliers.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83880" y="1508760"/>
            <a:ext cx="3566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183880" y="1508760"/>
            <a:ext cx="3566160" cy="438912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321040" y="1527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3  (PRIMARY)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21040" y="17099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UNCLEAN.XLSX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48472" y="207568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2,977 rows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48472" y="2295144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columns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48472" y="260604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403336" y="264261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₹28,101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03336" y="299008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Written Premium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48472" y="342900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403336" y="346557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₹34,871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03336" y="381304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Claim Amount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48472" y="425196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403336" y="428853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17.6 mo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03336" y="463600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Policy Tenure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48472" y="5166360"/>
            <a:ext cx="3236976" cy="1005840"/>
          </a:xfrm>
          <a:prstGeom prst="rect">
            <a:avLst/>
          </a:prstGeom>
          <a:solidFill>
            <a:srgbClr val="FDECEC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403336" y="5239512"/>
            <a:ext cx="312724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Full 7-agent pipeline: 69 pre-flagged + 149 IsolationForest anomalies, LR 0.54, CR 0.79, Health Score 62/100, AUC 0.9990.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GENERALISABILITY  ·  CROSS-DATASET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Performance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035808" cy="402336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27101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11880" y="1234440"/>
            <a:ext cx="2487168" cy="4023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03320" y="1271016"/>
            <a:ext cx="23042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2487168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55080" y="1271016"/>
            <a:ext cx="23042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915400" y="1234440"/>
            <a:ext cx="2487168" cy="4023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006840" y="1271016"/>
            <a:ext cx="23042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UNCLEAN.XLSX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709928"/>
            <a:ext cx="11548872" cy="621792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175564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Written Premium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78308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₹76,832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₹40,597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0" y="178308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₹28,101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404872"/>
            <a:ext cx="11548872" cy="621792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45059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Claim Amount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478024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₹3,82,738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478024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₹1,22,720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0" y="2478024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₹34,871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099816"/>
            <a:ext cx="11548872" cy="621792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314553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1729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7.75 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1729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4.76 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0" y="31729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 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794760"/>
            <a:ext cx="11548872" cy="621792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" y="384048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Policy Tenure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386791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 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86791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 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61120" y="386791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 mo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4489704"/>
            <a:ext cx="11548872" cy="621792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2920" y="453542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Issues Detected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456285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corruption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(88.6% rows)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456285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premiums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(117+65)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61120" y="456285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pre-flagged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+148 IsolationF.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" y="5184648"/>
            <a:ext cx="11548872" cy="621792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2920" y="523036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525780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run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525780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run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61120" y="525780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run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6035040"/>
            <a:ext cx="11365992" cy="64008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94360" y="6080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" y="6291072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 auto-detected data quality issues in all 3 datasets with zero manual intervention — demonstrating true plug-and-play generalisability across real-world insurance portfolios.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 ·  ACADEMIC HONESTY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5577840" cy="384048"/>
          </a:xfrm>
          <a:prstGeom prst="rect">
            <a:avLst/>
          </a:prstGeom>
          <a:solidFill>
            <a:srgbClr val="FDECEC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1208" y="1856232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" y="1856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746504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Batch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984248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must be uploaded manually — no real-time API ingestion or live data feeds yet.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624328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1208" y="2788920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2679192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Rate Limit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2916936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capped at 5 requests/min. CRO chatbot throttles under rapid queries.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557016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21208" y="3721608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21208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3611880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in Chatbot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8408" y="3849624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 only — chatbot cannot query historical reports or external documents.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489704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21208" y="4654296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21208" y="4654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4544568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4782312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session only. No multi-user access control or role-based permissions.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5422392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21208" y="5586984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21208" y="5586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5477256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Stress Scenarios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5715000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S1–S5 scenarios supported. Custom shock parameters require code changes.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1188720"/>
            <a:ext cx="5577840" cy="3840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92240" y="1234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ASSUMPTIONS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1691640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64808" y="1856232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64808" y="1856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22008" y="1746504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Claim Distribution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22008" y="1984248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assumes normally distributed claim amounts across the portfolio.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2624328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464808" y="2788920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64808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22008" y="2679192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Data Requirement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22008" y="2916936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requires ≥ 2 years of historical data for reliable seasonality detection.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3557016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464808" y="3721608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64808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22008" y="3611880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Contamination Rate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22008" y="3849624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contamination fixed at 5% — may under/over-flag in skewed datasets.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4489704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464808" y="4654296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64808" y="4654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22008" y="4544568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Calibrated Weights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22008" y="4782312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dimension weights (Insurance, Credit, Market, Ops, CAT) are expert-set, not learned.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55080" y="5422392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464808" y="5586984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64808" y="5586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22008" y="5477256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 Dependency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22008" y="5715000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expects standard column names (e.g. Claim_Amount, Written_Premium). Custom schemas need mapping.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represent active areas for future development — see Future Work slide for planned mitigations.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FUTURE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Road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32120" cy="530352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09928"/>
            <a:ext cx="52578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709928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64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03911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agents transform raw insurance data into a publishable actuarial PDF — zero manual intervention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42616"/>
            <a:ext cx="5257800" cy="859536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2642616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642616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Risk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5-dimensional risk scoring (Insurance, Credit, Market, Operational, CAT) delivered as a normalized 0–10 composite.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52578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3575304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575304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30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Robust Capital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90448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+ Expected Shortfall + Solvency Ratio computed from 1,000 simulations per portfolio.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507992"/>
            <a:ext cx="5257800" cy="859536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02920" y="4507992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4507992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562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Findings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83717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risk findings with priority levels + 6 CRO-level management actions with specific numerical benchmarks.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5440680"/>
            <a:ext cx="52578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2920" y="5440680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" y="5440680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54955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 Interface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576986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chatbot with strict guardrails answers risk questions in plain language from live report context.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1188720"/>
            <a:ext cx="5760720" cy="5303520"/>
          </a:xfrm>
          <a:prstGeom prst="rect">
            <a:avLst/>
          </a:prstGeom>
          <a:solidFill>
            <a:srgbClr val="243340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0936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709928"/>
            <a:ext cx="54864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217920" y="1709928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17920" y="1709928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1764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Data Ingestion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203911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Excel uploads with live REST API feeds from insurance core systems and market data providers for continuous risk monitoring.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642616"/>
            <a:ext cx="5486400" cy="859536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17920" y="2642616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17920" y="2642616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2697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Fraud Detection Agent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20840" y="297180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8th agent using Graph Neural Networks + transaction pattern analysis for real-time claim fraud detection beyond current scoring.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575304"/>
            <a:ext cx="54864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217920" y="3575304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217920" y="3575304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3630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Engine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0840" y="390448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premium computation per policy in real time — combining Monte Carlo VaR, XGBoost scores, and CAT exposure into pricing recommendations.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4507992"/>
            <a:ext cx="5486400" cy="859536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217920" y="4507992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17920" y="4507992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20840" y="45628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Regulatory Filing Automation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20840" y="483717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IRDAI-compliant solvency and risk-based capital reports from CRIP's existing pipeline outputs, reducing compliance TAT.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5440680"/>
            <a:ext cx="54864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217920" y="5440680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17920" y="5440680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20840" y="54955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RAG-Enhanced CRO Assistant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20840" y="576986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Retrieval-Augmented Generation over historical reports and regulatory documents to allow multi-year trend Q&amp;A and benchmark queries.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4085</Words>
  <Application>Microsoft Office PowerPoint</Application>
  <PresentationFormat>Custom</PresentationFormat>
  <Paragraphs>761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Varad Srivastava</cp:lastModifiedBy>
  <cp:revision>2</cp:revision>
  <dcterms:created xsi:type="dcterms:W3CDTF">2026-06-27T08:57:08Z</dcterms:created>
  <dcterms:modified xsi:type="dcterms:W3CDTF">2026-06-28T16:14:49Z</dcterms:modified>
</cp:coreProperties>
</file>